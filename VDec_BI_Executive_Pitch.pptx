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645920"/>
            <a:ext cx="91440" cy="329184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554480"/>
            <a:ext cx="10058400" cy="3474720"/>
          </a:xfrm>
          <a:prstGeom prst="rect">
            <a:avLst/>
          </a:prstGeom>
          <a:noFill/>
        </p:spPr>
        <p:txBody>
          <a:bodyPr wrap="square" lIns="0" tIns="0" rIns="0" bIns="0">
            <a:spAutoFit/>
          </a:bodyPr>
          <a:lstStyle/>
          <a:p>
            <a:pPr>
              <a:spcAft>
                <a:spcPts val="1200"/>
              </a:spcAft>
            </a:pPr>
            <a:r>
              <a:rPr sz="1200" b="1">
                <a:solidFill>
                  <a:srgbClr val="38BDF8"/>
                </a:solidFill>
                <a:latin typeface="Calibri"/>
              </a:rPr>
              <a:t>EXECUTIVE BRIEFING  |  CONVERSATIONAL DECISION INTELLIGENCE</a:t>
            </a:r>
          </a:p>
          <a:p>
            <a:pPr>
              <a:spcAft>
                <a:spcPts val="1400"/>
              </a:spcAft>
            </a:pPr>
            <a:r>
              <a:rPr sz="3600" b="1">
                <a:solidFill>
                  <a:srgbClr val="FFFFFF"/>
                </a:solidFill>
                <a:latin typeface="Calibri"/>
              </a:rPr>
              <a:t>VDec BI: Architecture, Core Concepts
&amp; Enterprise Business Value</a:t>
            </a:r>
          </a:p>
          <a:p>
            <a:r>
              <a:rPr sz="1600">
                <a:solidFill>
                  <a:srgbClr val="CBD5E1"/>
                </a:solidFill>
                <a:latin typeface="Calibri"/>
              </a:rPr>
              <a:t>Moving Beyond Static Dashboards &amp; AI Hallucinations: Grounded Decision Making for Retail &amp; Trading</a:t>
            </a:r>
          </a:p>
        </p:txBody>
      </p:sp>
      <p:sp>
        <p:nvSpPr>
          <p:cNvPr id="5" name="Rounded Rectangle 4"/>
          <p:cNvSpPr/>
          <p:nvPr/>
        </p:nvSpPr>
        <p:spPr>
          <a:xfrm>
            <a:off x="1097280" y="5303520"/>
            <a:ext cx="9601200" cy="731520"/>
          </a:xfrm>
          <a:prstGeom prst="roundRect">
            <a:avLst/>
          </a:prstGeom>
          <a:solidFill>
            <a:srgbClr val="0F213A"/>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5394960"/>
            <a:ext cx="9235440" cy="548640"/>
          </a:xfrm>
          <a:prstGeom prst="rect">
            <a:avLst/>
          </a:prstGeom>
          <a:noFill/>
        </p:spPr>
        <p:txBody>
          <a:bodyPr wrap="square">
            <a:spAutoFit/>
          </a:bodyPr>
          <a:lstStyle/>
          <a:p>
            <a:r>
              <a:rPr sz="1100">
                <a:solidFill>
                  <a:srgbClr val="38BDF8"/>
                </a:solidFill>
                <a:latin typeface="Calibri"/>
              </a:rPr>
              <a:t>Core Rule: The AI Never Does Arithmetic  •  3 Business Goals  •  Adaptive Operational Ingestion  •  Audited ROI</a:t>
            </a:r>
          </a:p>
        </p:txBody>
      </p:sp>
      <p:pic>
        <p:nvPicPr>
          <p:cNvPr id="7" name="Picture 6" descr="vdec_bi_horizontal_dark_optA.png"/>
          <p:cNvPicPr>
            <a:picLocks noChangeAspect="1"/>
          </p:cNvPicPr>
          <p:nvPr/>
        </p:nvPicPr>
        <p:blipFill>
          <a:blip r:embed="rId3"/>
          <a:stretch>
            <a:fillRect/>
          </a:stretch>
        </p:blipFill>
        <p:spPr>
          <a:xfrm>
            <a:off x="7772400" y="731520"/>
            <a:ext cx="3657600" cy="80467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1005840"/>
          </a:xfrm>
          <a:prstGeom prst="rect">
            <a:avLst/>
          </a:prstGeom>
          <a:noFill/>
        </p:spPr>
        <p:txBody>
          <a:bodyPr wrap="square" lIns="0" tIns="0" rIns="0" bIns="0">
            <a:spAutoFit/>
          </a:bodyPr>
          <a:lstStyle/>
          <a:p>
            <a:pPr>
              <a:spcAft>
                <a:spcPts val="200"/>
              </a:spcAft>
            </a:pPr>
            <a:r>
              <a:rPr sz="1000" b="1">
                <a:solidFill>
                  <a:srgbClr val="1D63B8"/>
                </a:solidFill>
                <a:latin typeface="Calibri"/>
              </a:rPr>
              <a:t>THE PROBLEM LANDSCAPE</a:t>
            </a:r>
          </a:p>
          <a:p>
            <a:pPr>
              <a:spcBef>
                <a:spcPts val="0"/>
              </a:spcBef>
            </a:pPr>
            <a:r>
              <a:rPr sz="2200" b="1">
                <a:solidFill>
                  <a:srgbClr val="0F2942"/>
                </a:solidFill>
                <a:latin typeface="Calibri"/>
              </a:rPr>
              <a:t>Why Business Leaders Get Bogged Down Making Operational Decisions</a:t>
            </a:r>
          </a:p>
        </p:txBody>
      </p:sp>
      <p:sp>
        <p:nvSpPr>
          <p:cNvPr id="4" name="Rounded Rectangle 3"/>
          <p:cNvSpPr/>
          <p:nvPr/>
        </p:nvSpPr>
        <p:spPr>
          <a:xfrm>
            <a:off x="731520" y="1645920"/>
            <a:ext cx="3328416"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874519"/>
            <a:ext cx="2871216" cy="3931920"/>
          </a:xfrm>
          <a:prstGeom prst="rect">
            <a:avLst/>
          </a:prstGeom>
          <a:noFill/>
        </p:spPr>
        <p:txBody>
          <a:bodyPr wrap="square">
            <a:spAutoFit/>
          </a:bodyPr>
          <a:lstStyle/>
          <a:p>
            <a:pPr>
              <a:spcAft>
                <a:spcPts val="1000"/>
              </a:spcAft>
            </a:pPr>
            <a:r>
              <a:rPr b="1" sz="1400">
                <a:solidFill>
                  <a:srgbClr val="B45309"/>
                </a:solidFill>
              </a:rPr>
              <a:t>MODE A: GUT FEELING
</a:t>
            </a:r>
          </a:p>
          <a:p>
            <a:pPr>
              <a:spcAft>
                <a:spcPts val="800"/>
              </a:spcAft>
            </a:pPr>
            <a:r>
              <a:rPr sz="1100">
                <a:solidFill>
                  <a:srgbClr val="0F172A"/>
                </a:solidFill>
              </a:rPr>
              <a:t>• Fast, but highly risky in tight-margin businesses.</a:t>
            </a:r>
          </a:p>
          <a:p>
            <a:pPr>
              <a:spcAft>
                <a:spcPts val="800"/>
              </a:spcAft>
            </a:pPr>
            <a:r>
              <a:rPr sz="1100">
                <a:solidFill>
                  <a:srgbClr val="0F172A"/>
                </a:solidFill>
              </a:rPr>
              <a:t>• Misses silent margin leaks caused by subtle supplier price inflation.</a:t>
            </a:r>
          </a:p>
          <a:p>
            <a:pPr>
              <a:spcAft>
                <a:spcPts val="800"/>
              </a:spcAft>
            </a:pPr>
            <a:r>
              <a:rPr sz="1100">
                <a:solidFill>
                  <a:srgbClr val="0F172A"/>
                </a:solidFill>
              </a:rPr>
              <a:t>• Blind to slipping customer cohorts until bank accounts show drops 30 days late.</a:t>
            </a:r>
          </a:p>
          <a:p>
            <a:pPr>
              <a:spcAft>
                <a:spcPts val="800"/>
              </a:spcAft>
            </a:pPr>
            <a:r>
              <a:rPr sz="1100">
                <a:solidFill>
                  <a:srgbClr val="0F172A"/>
                </a:solidFill>
              </a:rPr>
              <a:t>• Fails to identify dormant dead-stock until inventory must be fully written off.</a:t>
            </a:r>
          </a:p>
        </p:txBody>
      </p:sp>
      <p:sp>
        <p:nvSpPr>
          <p:cNvPr id="6" name="Rounded Rectangle 5"/>
          <p:cNvSpPr/>
          <p:nvPr/>
        </p:nvSpPr>
        <p:spPr>
          <a:xfrm>
            <a:off x="4425696" y="1645920"/>
            <a:ext cx="3328416"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54296" y="1874519"/>
            <a:ext cx="2871216" cy="3931920"/>
          </a:xfrm>
          <a:prstGeom prst="rect">
            <a:avLst/>
          </a:prstGeom>
          <a:noFill/>
        </p:spPr>
        <p:txBody>
          <a:bodyPr wrap="square">
            <a:spAutoFit/>
          </a:bodyPr>
          <a:lstStyle/>
          <a:p>
            <a:pPr>
              <a:spcAft>
                <a:spcPts val="1000"/>
              </a:spcAft>
            </a:pPr>
            <a:r>
              <a:rPr b="1" sz="1400">
                <a:solidFill>
                  <a:srgbClr val="1D63B8"/>
                </a:solidFill>
              </a:rPr>
              <a:t>MODE B: STATIC DASHBOARDS
</a:t>
            </a:r>
          </a:p>
          <a:p>
            <a:pPr>
              <a:spcAft>
                <a:spcPts val="800"/>
              </a:spcAft>
            </a:pPr>
            <a:r>
              <a:rPr sz="1100">
                <a:solidFill>
                  <a:srgbClr val="0F172A"/>
                </a:solidFill>
              </a:rPr>
              <a:t>• 25 colorful charts, but nobody looks at them after week two.</a:t>
            </a:r>
          </a:p>
          <a:p>
            <a:pPr>
              <a:spcAft>
                <a:spcPts val="800"/>
              </a:spcAft>
            </a:pPr>
            <a:r>
              <a:rPr sz="1100">
                <a:solidFill>
                  <a:srgbClr val="0F172A"/>
                </a:solidFill>
              </a:rPr>
              <a:t>• Shows WHAT happened, but never WHY or WHAT TO DO NEXT.</a:t>
            </a:r>
          </a:p>
          <a:p>
            <a:pPr>
              <a:spcAft>
                <a:spcPts val="800"/>
              </a:spcAft>
            </a:pPr>
            <a:r>
              <a:rPr sz="1100">
                <a:solidFill>
                  <a:srgbClr val="0F172A"/>
                </a:solidFill>
              </a:rPr>
              <a:t>• Monday morning detective work: managers click through 5 screens and date filters.</a:t>
            </a:r>
          </a:p>
          <a:p>
            <a:pPr>
              <a:spcAft>
                <a:spcPts val="800"/>
              </a:spcAft>
            </a:pPr>
            <a:r>
              <a:rPr sz="1100">
                <a:solidFill>
                  <a:srgbClr val="0F172A"/>
                </a:solidFill>
              </a:rPr>
              <a:t>• Dumps raw homework onto busy store operators instead of clear answers.</a:t>
            </a:r>
          </a:p>
        </p:txBody>
      </p:sp>
      <p:sp>
        <p:nvSpPr>
          <p:cNvPr id="8" name="Rounded Rectangle 7"/>
          <p:cNvSpPr/>
          <p:nvPr/>
        </p:nvSpPr>
        <p:spPr>
          <a:xfrm>
            <a:off x="8119872" y="1645920"/>
            <a:ext cx="3328416"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48472" y="1874519"/>
            <a:ext cx="2871216" cy="3931920"/>
          </a:xfrm>
          <a:prstGeom prst="rect">
            <a:avLst/>
          </a:prstGeom>
          <a:noFill/>
        </p:spPr>
        <p:txBody>
          <a:bodyPr wrap="square">
            <a:spAutoFit/>
          </a:bodyPr>
          <a:lstStyle/>
          <a:p>
            <a:pPr>
              <a:spcAft>
                <a:spcPts val="1000"/>
              </a:spcAft>
            </a:pPr>
            <a:r>
              <a:rPr b="1" sz="1400">
                <a:solidFill>
                  <a:srgbClr val="DC2626"/>
                </a:solidFill>
              </a:rPr>
              <a:t>MODE C: GENERIC AI CHAT
</a:t>
            </a:r>
          </a:p>
          <a:p>
            <a:pPr>
              <a:spcAft>
                <a:spcPts val="800"/>
              </a:spcAft>
            </a:pPr>
            <a:r>
              <a:rPr sz="1100">
                <a:solidFill>
                  <a:srgbClr val="0F172A"/>
                </a:solidFill>
              </a:rPr>
              <a:t>• Generates database SQL on the fly; prone to critical syntax and join bugs.</a:t>
            </a:r>
          </a:p>
          <a:p>
            <a:pPr>
              <a:spcAft>
                <a:spcPts val="800"/>
              </a:spcAft>
            </a:pPr>
            <a:r>
              <a:rPr sz="1100">
                <a:solidFill>
                  <a:srgbClr val="0F172A"/>
                </a:solidFill>
              </a:rPr>
              <a:t>• Math Hallucinations: mixes up order dates vs invoice dates; misses return adjustments.</a:t>
            </a:r>
          </a:p>
          <a:p>
            <a:pPr>
              <a:spcAft>
                <a:spcPts val="800"/>
              </a:spcAft>
            </a:pPr>
            <a:r>
              <a:rPr sz="1100">
                <a:solidFill>
                  <a:srgbClr val="0F172A"/>
                </a:solidFill>
              </a:rPr>
              <a:t>• Context Blindness: ignores holiday spikes and wholesale order distortions.</a:t>
            </a:r>
          </a:p>
          <a:p>
            <a:pPr>
              <a:spcAft>
                <a:spcPts val="800"/>
              </a:spcAft>
            </a:pPr>
            <a:r>
              <a:rPr sz="1100">
                <a:solidFill>
                  <a:srgbClr val="0F172A"/>
                </a:solidFill>
              </a:rPr>
              <a:t>• Lost Trust: one incorrect financial figure in a board meeting permanently kills adoption.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1005840"/>
          </a:xfrm>
          <a:prstGeom prst="rect">
            <a:avLst/>
          </a:prstGeom>
          <a:noFill/>
        </p:spPr>
        <p:txBody>
          <a:bodyPr wrap="square" lIns="0" tIns="0" rIns="0" bIns="0">
            <a:spAutoFit/>
          </a:bodyPr>
          <a:lstStyle/>
          <a:p>
            <a:pPr>
              <a:spcAft>
                <a:spcPts val="200"/>
              </a:spcAft>
            </a:pPr>
            <a:r>
              <a:rPr sz="1000" b="1">
                <a:solidFill>
                  <a:srgbClr val="1D63B8"/>
                </a:solidFill>
                <a:latin typeface="Calibri"/>
              </a:rPr>
              <a:t>CORE CONCEPT &amp; PHILOSOPHY</a:t>
            </a:r>
          </a:p>
          <a:p>
            <a:pPr>
              <a:spcBef>
                <a:spcPts val="0"/>
              </a:spcBef>
            </a:pPr>
            <a:r>
              <a:rPr sz="2200" b="1">
                <a:solidFill>
                  <a:srgbClr val="0F2942"/>
                </a:solidFill>
                <a:latin typeface="Calibri"/>
              </a:rPr>
              <a:t>The 'Third Way': Decision Triad &amp; Foundational Strategic Goals</a:t>
            </a:r>
          </a:p>
        </p:txBody>
      </p:sp>
      <p:sp>
        <p:nvSpPr>
          <p:cNvPr id="4" name="Rounded Rectangle 3"/>
          <p:cNvSpPr/>
          <p:nvPr/>
        </p:nvSpPr>
        <p:spPr>
          <a:xfrm>
            <a:off x="731520" y="1645920"/>
            <a:ext cx="3328416" cy="2011680"/>
          </a:xfrm>
          <a:prstGeom prst="roundRect">
            <a:avLst/>
          </a:prstGeom>
          <a:solidFill>
            <a:srgbClr val="EFF6FF"/>
          </a:solidFill>
          <a:ln w="12700">
            <a:solidFill>
              <a:srgbClr val="1D6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2962656" cy="1645920"/>
          </a:xfrm>
          <a:prstGeom prst="rect">
            <a:avLst/>
          </a:prstGeom>
          <a:noFill/>
        </p:spPr>
        <p:txBody>
          <a:bodyPr wrap="square">
            <a:spAutoFit/>
          </a:bodyPr>
          <a:lstStyle/>
          <a:p>
            <a:pPr>
              <a:spcAft>
                <a:spcPts val="600"/>
              </a:spcAft>
            </a:pPr>
            <a:r>
              <a:rPr sz="1300" b="1">
                <a:solidFill>
                  <a:srgbClr val="1D63B8"/>
                </a:solidFill>
                <a:latin typeface="Calibri"/>
              </a:rPr>
              <a:t>1. THE FACT</a:t>
            </a:r>
          </a:p>
          <a:p>
            <a:r>
              <a:rPr sz="1050">
                <a:solidFill>
                  <a:srgbClr val="0F172A"/>
                </a:solidFill>
                <a:latin typeface="Calibri"/>
              </a:rPr>
              <a:t>Audited math calculated in deterministic code—never guessed. Delivers verified revenue, sell-through velocity, and true margin numbers.</a:t>
            </a:r>
          </a:p>
        </p:txBody>
      </p:sp>
      <p:sp>
        <p:nvSpPr>
          <p:cNvPr id="6" name="Rounded Rectangle 5"/>
          <p:cNvSpPr/>
          <p:nvPr/>
        </p:nvSpPr>
        <p:spPr>
          <a:xfrm>
            <a:off x="4425696" y="1645920"/>
            <a:ext cx="3328416" cy="2011680"/>
          </a:xfrm>
          <a:prstGeom prst="roundRect">
            <a:avLst/>
          </a:prstGeom>
          <a:solidFill>
            <a:srgbClr val="F0FDF4"/>
          </a:solidFill>
          <a:ln w="127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08576" y="1828800"/>
            <a:ext cx="2962656" cy="1645920"/>
          </a:xfrm>
          <a:prstGeom prst="rect">
            <a:avLst/>
          </a:prstGeom>
          <a:noFill/>
        </p:spPr>
        <p:txBody>
          <a:bodyPr wrap="square">
            <a:spAutoFit/>
          </a:bodyPr>
          <a:lstStyle/>
          <a:p>
            <a:pPr>
              <a:spcAft>
                <a:spcPts val="600"/>
              </a:spcAft>
            </a:pPr>
            <a:r>
              <a:rPr sz="1300" b="1">
                <a:solidFill>
                  <a:srgbClr val="166534"/>
                </a:solidFill>
                <a:latin typeface="Calibri"/>
              </a:rPr>
              <a:t>2. THE LIKELY CAUSE</a:t>
            </a:r>
          </a:p>
          <a:p>
            <a:r>
              <a:rPr sz="1050">
                <a:solidFill>
                  <a:srgbClr val="0F172A"/>
                </a:solidFill>
                <a:latin typeface="Calibri"/>
              </a:rPr>
              <a:t>Automated anomaly diagnosis isolates specific drivers: supplier cost inflation vs product mix vs over-discounting vs stockout.</a:t>
            </a:r>
          </a:p>
        </p:txBody>
      </p:sp>
      <p:sp>
        <p:nvSpPr>
          <p:cNvPr id="8" name="Rounded Rectangle 7"/>
          <p:cNvSpPr/>
          <p:nvPr/>
        </p:nvSpPr>
        <p:spPr>
          <a:xfrm>
            <a:off x="8119872" y="1645920"/>
            <a:ext cx="3328416" cy="2011680"/>
          </a:xfrm>
          <a:prstGeom prst="roundRect">
            <a:avLst/>
          </a:prstGeom>
          <a:solidFill>
            <a:srgbClr val="FEF3C7"/>
          </a:solidFill>
          <a:ln w="127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02752" y="1828800"/>
            <a:ext cx="2962656" cy="1645920"/>
          </a:xfrm>
          <a:prstGeom prst="rect">
            <a:avLst/>
          </a:prstGeom>
          <a:noFill/>
        </p:spPr>
        <p:txBody>
          <a:bodyPr wrap="square">
            <a:spAutoFit/>
          </a:bodyPr>
          <a:lstStyle/>
          <a:p>
            <a:pPr>
              <a:spcAft>
                <a:spcPts val="600"/>
              </a:spcAft>
            </a:pPr>
            <a:r>
              <a:rPr sz="1300" b="1">
                <a:solidFill>
                  <a:srgbClr val="B45309"/>
                </a:solidFill>
                <a:latin typeface="Calibri"/>
              </a:rPr>
              <a:t>3. THE NEXT ACTION</a:t>
            </a:r>
          </a:p>
          <a:p>
            <a:r>
              <a:rPr sz="1050">
                <a:solidFill>
                  <a:srgbClr val="0F172A"/>
                </a:solidFill>
                <a:latin typeface="Calibri"/>
              </a:rPr>
              <a:t>Prescriptive operational actions: 1-click supplier re-order lists to Excel, bundle slow SKUs, or adjust weekend store shifts.</a:t>
            </a:r>
          </a:p>
        </p:txBody>
      </p:sp>
      <p:sp>
        <p:nvSpPr>
          <p:cNvPr id="10" name="Rounded Rectangle 9"/>
          <p:cNvSpPr/>
          <p:nvPr/>
        </p:nvSpPr>
        <p:spPr>
          <a:xfrm>
            <a:off x="731520" y="3931920"/>
            <a:ext cx="10728655"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069080"/>
            <a:ext cx="10149840" cy="1920240"/>
          </a:xfrm>
          <a:prstGeom prst="rect">
            <a:avLst/>
          </a:prstGeom>
          <a:noFill/>
        </p:spPr>
        <p:txBody>
          <a:bodyPr wrap="square">
            <a:spAutoFit/>
          </a:bodyPr>
          <a:lstStyle/>
          <a:p>
            <a:pPr>
              <a:spcAft>
                <a:spcPts val="1000"/>
              </a:spcAft>
            </a:pPr>
            <a:r>
              <a:rPr sz="1300" b="1">
                <a:solidFill>
                  <a:srgbClr val="0F2942"/>
                </a:solidFill>
                <a:latin typeface="Calibri"/>
              </a:rPr>
              <a:t>THE THREE FOUNDATIONAL STRATEGIC GOALS OF VDec BI</a:t>
            </a:r>
          </a:p>
          <a:p>
            <a:pPr>
              <a:spcAft>
                <a:spcPts val="600"/>
              </a:spcAft>
            </a:pPr>
            <a:r>
              <a:rPr b="1" sz="1050">
                <a:solidFill>
                  <a:srgbClr val="1D63B8"/>
                </a:solidFill>
              </a:rPr>
              <a:t>• Goal 1: Effective Decision-Making: </a:t>
            </a:r>
            <a:r>
              <a:rPr sz="1050">
                <a:solidFill>
                  <a:srgbClr val="475569"/>
                </a:solidFill>
              </a:rPr>
              <a:t>Replaces passive charts with active outcome orientation. Delivers the Fact, Cause, and Next Action in under 15 seconds so leaders decide before Friday.</a:t>
            </a:r>
          </a:p>
          <a:p>
            <a:pPr>
              <a:spcAft>
                <a:spcPts val="600"/>
              </a:spcAft>
            </a:pPr>
            <a:r>
              <a:rPr b="1" sz="1050">
                <a:solidFill>
                  <a:srgbClr val="1D63B8"/>
                </a:solidFill>
              </a:rPr>
              <a:t>• Goal 2: Fully Automated Analysis: </a:t>
            </a:r>
            <a:r>
              <a:rPr sz="1050">
                <a:solidFill>
                  <a:srgbClr val="475569"/>
                </a:solidFill>
              </a:rPr>
              <a:t>Automates the entire analytical lifecycle from transaction aggregation to outlier detection and Monday morning executive PDF briefings.</a:t>
            </a:r>
          </a:p>
          <a:p>
            <a:pPr>
              <a:spcAft>
                <a:spcPts val="600"/>
              </a:spcAft>
            </a:pPr>
            <a:r>
              <a:rPr b="1" sz="1050">
                <a:solidFill>
                  <a:srgbClr val="1D63B8"/>
                </a:solidFill>
              </a:rPr>
              <a:t>• Goal 3: Lowering the Barrier for SMEs: </a:t>
            </a:r>
            <a:r>
              <a:rPr sz="1050">
                <a:solidFill>
                  <a:srgbClr val="475569"/>
                </a:solidFill>
              </a:rPr>
              <a:t>Brings enterprise-caliber analytics to small and mid-sized businesses with zero data-cleaning hurdles, strong security, and manageable costs.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1005840"/>
          </a:xfrm>
          <a:prstGeom prst="rect">
            <a:avLst/>
          </a:prstGeom>
          <a:noFill/>
        </p:spPr>
        <p:txBody>
          <a:bodyPr wrap="square" lIns="0" tIns="0" rIns="0" bIns="0">
            <a:spAutoFit/>
          </a:bodyPr>
          <a:lstStyle/>
          <a:p>
            <a:pPr>
              <a:spcAft>
                <a:spcPts val="200"/>
              </a:spcAft>
            </a:pPr>
            <a:r>
              <a:rPr sz="1000" b="1">
                <a:solidFill>
                  <a:srgbClr val="1D63B8"/>
                </a:solidFill>
                <a:latin typeface="Calibri"/>
              </a:rPr>
              <a:t>DATA STRATEGY &amp; INGESTION</a:t>
            </a:r>
          </a:p>
          <a:p>
            <a:pPr>
              <a:spcBef>
                <a:spcPts val="0"/>
              </a:spcBef>
            </a:pPr>
            <a:r>
              <a:rPr sz="2200" b="1">
                <a:solidFill>
                  <a:srgbClr val="0F2942"/>
                </a:solidFill>
                <a:latin typeface="Calibri"/>
              </a:rPr>
              <a:t>Software That Adapts to Operational Reality, Not 'Data Purity'</a:t>
            </a:r>
          </a:p>
        </p:txBody>
      </p:sp>
      <p:sp>
        <p:nvSpPr>
          <p:cNvPr id="4" name="Rounded Rectangle 3"/>
          <p:cNvSpPr/>
          <p:nvPr/>
        </p:nvSpPr>
        <p:spPr>
          <a:xfrm>
            <a:off x="731520" y="1645920"/>
            <a:ext cx="5212080" cy="3200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828800"/>
            <a:ext cx="4754880" cy="2834640"/>
          </a:xfrm>
          <a:prstGeom prst="rect">
            <a:avLst/>
          </a:prstGeom>
          <a:noFill/>
        </p:spPr>
        <p:txBody>
          <a:bodyPr wrap="square">
            <a:spAutoFit/>
          </a:bodyPr>
          <a:lstStyle/>
          <a:p>
            <a:pPr>
              <a:spcAft>
                <a:spcPts val="800"/>
              </a:spcAft>
            </a:pPr>
            <a:r>
              <a:rPr b="1" sz="1300">
                <a:solidFill>
                  <a:srgbClr val="DC2626"/>
                </a:solidFill>
              </a:rPr>
              <a:t>THE 'DATA PURITY' CONSULTING TRAP
</a:t>
            </a:r>
          </a:p>
          <a:p>
            <a:pPr>
              <a:spcAft>
                <a:spcPts val="600"/>
              </a:spcAft>
            </a:pPr>
            <a:r>
              <a:rPr sz="1000">
                <a:solidFill>
                  <a:srgbClr val="0F172A"/>
                </a:solidFill>
              </a:rPr>
              <a:t>✗ Consultant Mandate: 'Spend 6 months and $50,000 cleaning and standardizing all your data before seeing a single insight.'</a:t>
            </a:r>
          </a:p>
          <a:p>
            <a:pPr>
              <a:spcAft>
                <a:spcPts val="600"/>
              </a:spcAft>
            </a:pPr>
            <a:r>
              <a:rPr sz="1000">
                <a:solidFill>
                  <a:srgbClr val="0F172A"/>
                </a:solidFill>
              </a:rPr>
              <a:t>✗ Result: Heavy upfront capital expenditure with zero guaranteed operational outcome.</a:t>
            </a:r>
          </a:p>
          <a:p>
            <a:pPr>
              <a:spcAft>
                <a:spcPts val="600"/>
              </a:spcAft>
            </a:pPr>
            <a:r>
              <a:rPr sz="1000">
                <a:solidFill>
                  <a:srgbClr val="0F172A"/>
                </a:solidFill>
              </a:rPr>
              <a:t>✗ Operational Reality: Retailers and traders do not have pristine data warehouses—they have cash registers, POS receipts, and supplier invoices.</a:t>
            </a:r>
          </a:p>
          <a:p>
            <a:pPr>
              <a:spcAft>
                <a:spcPts val="600"/>
              </a:spcAft>
            </a:pPr>
            <a:r>
              <a:rPr sz="1000">
                <a:solidFill>
                  <a:srgbClr val="0F172A"/>
                </a:solidFill>
              </a:rPr>
              <a:t>✗ Conclusion: Analytics tools must deliver immediate value from existing messy reality.</a:t>
            </a:r>
          </a:p>
        </p:txBody>
      </p:sp>
      <p:sp>
        <p:nvSpPr>
          <p:cNvPr id="6" name="Rounded Rectangle 5"/>
          <p:cNvSpPr/>
          <p:nvPr/>
        </p:nvSpPr>
        <p:spPr>
          <a:xfrm>
            <a:off x="6217920" y="1645920"/>
            <a:ext cx="5212080" cy="3200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828800"/>
            <a:ext cx="4754880" cy="2834640"/>
          </a:xfrm>
          <a:prstGeom prst="rect">
            <a:avLst/>
          </a:prstGeom>
          <a:noFill/>
        </p:spPr>
        <p:txBody>
          <a:bodyPr wrap="square">
            <a:spAutoFit/>
          </a:bodyPr>
          <a:lstStyle/>
          <a:p>
            <a:pPr>
              <a:spcAft>
                <a:spcPts val="800"/>
              </a:spcAft>
            </a:pPr>
            <a:r>
              <a:rPr b="1" sz="1300">
                <a:solidFill>
                  <a:srgbClr val="166534"/>
                </a:solidFill>
              </a:rPr>
              <a:t>THE VDec ADAPTIVE INGESTION ENGINE
</a:t>
            </a:r>
          </a:p>
          <a:p>
            <a:pPr>
              <a:spcAft>
                <a:spcPts val="600"/>
              </a:spcAft>
            </a:pPr>
            <a:r>
              <a:rPr sz="1000">
                <a:solidFill>
                  <a:srgbClr val="0F172A"/>
                </a:solidFill>
              </a:rPr>
              <a:t>✓ Start on Day 1: With basic cash-register receipts only, VDec immediately surfaces peak-hour heatmaps, customer visit velocity, and automated weekly summaries.</a:t>
            </a:r>
          </a:p>
          <a:p>
            <a:pPr>
              <a:spcAft>
                <a:spcPts val="600"/>
              </a:spcAft>
            </a:pPr>
            <a:r>
              <a:rPr sz="1000">
                <a:solidFill>
                  <a:srgbClr val="0F172A"/>
                </a:solidFill>
              </a:rPr>
              <a:t>✓ Graceful Degradation: Missing product cost data? VDec hides gross margin tiles with a friendly prompt ('Add costs to unlock margin diagnosis') instead of crashing.</a:t>
            </a:r>
          </a:p>
          <a:p>
            <a:pPr>
              <a:spcAft>
                <a:spcPts val="600"/>
              </a:spcAft>
            </a:pPr>
            <a:r>
              <a:rPr sz="1000">
                <a:solidFill>
                  <a:srgbClr val="0F172A"/>
                </a:solidFill>
              </a:rPr>
              <a:t>✓ Progressive Unlocking: When supplier costs or inventory logs are later connected, deeper diagnostic models unlock automatically without custom engineering.</a:t>
            </a:r>
          </a:p>
          <a:p>
            <a:pPr>
              <a:spcAft>
                <a:spcPts val="600"/>
              </a:spcAft>
            </a:pPr>
            <a:r>
              <a:rPr sz="1000">
                <a:solidFill>
                  <a:srgbClr val="0F172A"/>
                </a:solidFill>
              </a:rPr>
              <a:t>✓ Zero Lock-In: Operates on top of existing POS/ERP tools without replacing them.</a:t>
            </a:r>
          </a:p>
        </p:txBody>
      </p:sp>
      <p:sp>
        <p:nvSpPr>
          <p:cNvPr id="8" name="Rounded Rectangle 7"/>
          <p:cNvSpPr/>
          <p:nvPr/>
        </p:nvSpPr>
        <p:spPr>
          <a:xfrm>
            <a:off x="731520" y="5029200"/>
            <a:ext cx="10728655" cy="1188720"/>
          </a:xfrm>
          <a:prstGeom prst="roundRect">
            <a:avLst/>
          </a:prstGeom>
          <a:solidFill>
            <a:srgbClr val="0F2942"/>
          </a:solidFill>
          <a:ln w="12700">
            <a:solidFill>
              <a:srgbClr val="1D6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5120640"/>
            <a:ext cx="10149840" cy="1005840"/>
          </a:xfrm>
          <a:prstGeom prst="rect">
            <a:avLst/>
          </a:prstGeom>
          <a:noFill/>
        </p:spPr>
        <p:txBody>
          <a:bodyPr wrap="square">
            <a:spAutoFit/>
          </a:bodyPr>
          <a:lstStyle/>
          <a:p>
            <a:r>
              <a:rPr sz="1100" b="1">
                <a:solidFill>
                  <a:srgbClr val="38BDF8"/>
                </a:solidFill>
                <a:latin typeface="Calibri"/>
              </a:rPr>
              <a:t>SYSTEMS THAT EXPLAIN  vs.  SYSTEMS THAT RECORD
</a:t>
            </a:r>
            <a:r>
              <a:rPr sz="1000">
                <a:solidFill>
                  <a:srgbClr val="FFFFFF"/>
                </a:solidFill>
                <a:latin typeface="Calibri"/>
              </a:rPr>
              <a:t>ERPs and POS systems record transactions with precision (Item X sold for $25 at 2:15 PM). But they do not explain why gross margin fell, which customer cohorts stopped reordering, or which products freeze working capital as dead stock. VDec BI translates transactional records into verified decisions.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1005840"/>
          </a:xfrm>
          <a:prstGeom prst="rect">
            <a:avLst/>
          </a:prstGeom>
          <a:noFill/>
        </p:spPr>
        <p:txBody>
          <a:bodyPr wrap="square" lIns="0" tIns="0" rIns="0" bIns="0">
            <a:spAutoFit/>
          </a:bodyPr>
          <a:lstStyle/>
          <a:p>
            <a:pPr>
              <a:spcAft>
                <a:spcPts val="200"/>
              </a:spcAft>
            </a:pPr>
            <a:r>
              <a:rPr sz="1000" b="1">
                <a:solidFill>
                  <a:srgbClr val="1D63B8"/>
                </a:solidFill>
                <a:latin typeface="Calibri"/>
              </a:rPr>
              <a:t>SYSTEM ARCHITECTURE</a:t>
            </a:r>
          </a:p>
          <a:p>
            <a:pPr>
              <a:spcBef>
                <a:spcPts val="0"/>
              </a:spcBef>
            </a:pPr>
            <a:r>
              <a:rPr sz="2200" b="1">
                <a:solidFill>
                  <a:srgbClr val="0F2942"/>
                </a:solidFill>
                <a:latin typeface="Calibri"/>
              </a:rPr>
              <a:t>The 5-Layer Decoupled Pipeline: The AI Never Does Arithmetic</a:t>
            </a:r>
          </a:p>
        </p:txBody>
      </p:sp>
      <p:sp>
        <p:nvSpPr>
          <p:cNvPr id="4" name="Rounded Rectangle 3"/>
          <p:cNvSpPr/>
          <p:nvPr/>
        </p:nvSpPr>
        <p:spPr>
          <a:xfrm>
            <a:off x="731520" y="1645920"/>
            <a:ext cx="2011680" cy="4114800"/>
          </a:xfrm>
          <a:prstGeom prst="roundRect">
            <a:avLst/>
          </a:prstGeom>
          <a:solidFill>
            <a:srgbClr val="EFF6FF"/>
          </a:solidFill>
          <a:ln w="12700">
            <a:solidFill>
              <a:srgbClr val="1D6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783080"/>
            <a:ext cx="1792224" cy="3840480"/>
          </a:xfrm>
          <a:prstGeom prst="rect">
            <a:avLst/>
          </a:prstGeom>
          <a:noFill/>
        </p:spPr>
        <p:txBody>
          <a:bodyPr wrap="square">
            <a:spAutoFit/>
          </a:bodyPr>
          <a:lstStyle/>
          <a:p>
            <a:pPr>
              <a:spcAft>
                <a:spcPts val="200"/>
              </a:spcAft>
            </a:pPr>
            <a:r>
              <a:rPr sz="1100" b="1">
                <a:solidFill>
                  <a:srgbClr val="1D63B8"/>
                </a:solidFill>
                <a:latin typeface="Calibri"/>
              </a:rPr>
              <a:t>Layer 1
</a:t>
            </a:r>
          </a:p>
          <a:p>
            <a:pPr>
              <a:spcAft>
                <a:spcPts val="1000"/>
              </a:spcAft>
            </a:pPr>
            <a:r>
              <a:rPr sz="1200" b="1">
                <a:solidFill>
                  <a:srgbClr val="0F172A"/>
                </a:solidFill>
                <a:latin typeface="Calibri"/>
              </a:rPr>
              <a:t>Metric Intent Matching
</a:t>
            </a:r>
          </a:p>
          <a:p>
            <a:pPr>
              <a:spcAft>
                <a:spcPts val="1000"/>
              </a:spcAft>
            </a:pPr>
            <a:r>
              <a:rPr sz="950">
                <a:solidFill>
                  <a:srgbClr val="475569"/>
                </a:solidFill>
                <a:latin typeface="Calibri"/>
              </a:rPr>
              <a:t>Function:
User question is mapped to pre-tested metric definitions in code.
</a:t>
            </a:r>
          </a:p>
          <a:p>
            <a:r>
              <a:rPr sz="950" b="1">
                <a:solidFill>
                  <a:srgbClr val="1D63B8"/>
                </a:solidFill>
                <a:latin typeface="Calibri"/>
              </a:rPr>
              <a:t>Safety Benefit:
Eliminates on-the-fly SQL generation and syntax/join errors.</a:t>
            </a:r>
          </a:p>
        </p:txBody>
      </p:sp>
      <p:sp>
        <p:nvSpPr>
          <p:cNvPr id="6" name="Rounded Rectangle 5"/>
          <p:cNvSpPr/>
          <p:nvPr/>
        </p:nvSpPr>
        <p:spPr>
          <a:xfrm>
            <a:off x="2907791" y="1645920"/>
            <a:ext cx="2011680" cy="4114800"/>
          </a:xfrm>
          <a:prstGeom prst="roundRect">
            <a:avLst/>
          </a:prstGeom>
          <a:solidFill>
            <a:srgbClr val="FFFFFF"/>
          </a:solidFill>
          <a:ln w="12700">
            <a:solidFill>
              <a:srgbClr val="0F2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017519" y="1783080"/>
            <a:ext cx="1792224" cy="3840480"/>
          </a:xfrm>
          <a:prstGeom prst="rect">
            <a:avLst/>
          </a:prstGeom>
          <a:noFill/>
        </p:spPr>
        <p:txBody>
          <a:bodyPr wrap="square">
            <a:spAutoFit/>
          </a:bodyPr>
          <a:lstStyle/>
          <a:p>
            <a:pPr>
              <a:spcAft>
                <a:spcPts val="200"/>
              </a:spcAft>
            </a:pPr>
            <a:r>
              <a:rPr sz="1100" b="1">
                <a:solidFill>
                  <a:srgbClr val="0F2942"/>
                </a:solidFill>
                <a:latin typeface="Calibri"/>
              </a:rPr>
              <a:t>Layer 2
</a:t>
            </a:r>
          </a:p>
          <a:p>
            <a:pPr>
              <a:spcAft>
                <a:spcPts val="1000"/>
              </a:spcAft>
            </a:pPr>
            <a:r>
              <a:rPr sz="1200" b="1">
                <a:solidFill>
                  <a:srgbClr val="0F172A"/>
                </a:solidFill>
                <a:latin typeface="Calibri"/>
              </a:rPr>
              <a:t>Deterministic Math Engine
</a:t>
            </a:r>
          </a:p>
          <a:p>
            <a:pPr>
              <a:spcAft>
                <a:spcPts val="1000"/>
              </a:spcAft>
            </a:pPr>
            <a:r>
              <a:rPr sz="950">
                <a:solidFill>
                  <a:srgbClr val="475569"/>
                </a:solidFill>
                <a:latin typeface="Calibri"/>
              </a:rPr>
              <a:t>Function:
Audited Python/SQL executes arithmetic calculations deterministically.
</a:t>
            </a:r>
          </a:p>
          <a:p>
            <a:r>
              <a:rPr sz="950" b="1">
                <a:solidFill>
                  <a:srgbClr val="0F2942"/>
                </a:solidFill>
                <a:latin typeface="Calibri"/>
              </a:rPr>
              <a:t>Safety Benefit:
100% mathematical auditability; numbers match ledger balance.</a:t>
            </a:r>
          </a:p>
        </p:txBody>
      </p:sp>
      <p:sp>
        <p:nvSpPr>
          <p:cNvPr id="8" name="Rounded Rectangle 7"/>
          <p:cNvSpPr/>
          <p:nvPr/>
        </p:nvSpPr>
        <p:spPr>
          <a:xfrm>
            <a:off x="5084064" y="1645920"/>
            <a:ext cx="2011680" cy="4114800"/>
          </a:xfrm>
          <a:prstGeom prst="roundRect">
            <a:avLst/>
          </a:prstGeom>
          <a:solidFill>
            <a:srgbClr val="EFF6FF"/>
          </a:solidFill>
          <a:ln w="12700">
            <a:solidFill>
              <a:srgbClr val="1D6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193792" y="1783080"/>
            <a:ext cx="1792224" cy="3840480"/>
          </a:xfrm>
          <a:prstGeom prst="rect">
            <a:avLst/>
          </a:prstGeom>
          <a:noFill/>
        </p:spPr>
        <p:txBody>
          <a:bodyPr wrap="square">
            <a:spAutoFit/>
          </a:bodyPr>
          <a:lstStyle/>
          <a:p>
            <a:pPr>
              <a:spcAft>
                <a:spcPts val="200"/>
              </a:spcAft>
            </a:pPr>
            <a:r>
              <a:rPr sz="1100" b="1">
                <a:solidFill>
                  <a:srgbClr val="1D63B8"/>
                </a:solidFill>
                <a:latin typeface="Calibri"/>
              </a:rPr>
              <a:t>Layer 3
</a:t>
            </a:r>
          </a:p>
          <a:p>
            <a:pPr>
              <a:spcAft>
                <a:spcPts val="1000"/>
              </a:spcAft>
            </a:pPr>
            <a:r>
              <a:rPr sz="1200" b="1">
                <a:solidFill>
                  <a:srgbClr val="0F172A"/>
                </a:solidFill>
                <a:latin typeface="Calibri"/>
              </a:rPr>
              <a:t>Anomaly &amp; Outlier Guard
</a:t>
            </a:r>
          </a:p>
          <a:p>
            <a:pPr>
              <a:spcAft>
                <a:spcPts val="1000"/>
              </a:spcAft>
            </a:pPr>
            <a:r>
              <a:rPr sz="950">
                <a:solidFill>
                  <a:srgbClr val="475569"/>
                </a:solidFill>
                <a:latin typeface="Calibri"/>
              </a:rPr>
              <a:t>Function:
Statistical algorithms detect one-off bulk wholesale spikes and holidays.
</a:t>
            </a:r>
          </a:p>
          <a:p>
            <a:r>
              <a:rPr sz="950" b="1">
                <a:solidFill>
                  <a:srgbClr val="1D63B8"/>
                </a:solidFill>
                <a:latin typeface="Calibri"/>
              </a:rPr>
              <a:t>Safety Benefit:
Prevents distorted daily averages and false margin alarms.</a:t>
            </a:r>
          </a:p>
        </p:txBody>
      </p:sp>
      <p:sp>
        <p:nvSpPr>
          <p:cNvPr id="10" name="Rounded Rectangle 9"/>
          <p:cNvSpPr/>
          <p:nvPr/>
        </p:nvSpPr>
        <p:spPr>
          <a:xfrm>
            <a:off x="7260336" y="1645920"/>
            <a:ext cx="2011680" cy="4114800"/>
          </a:xfrm>
          <a:prstGeom prst="roundRect">
            <a:avLst/>
          </a:prstGeom>
          <a:solidFill>
            <a:srgbClr val="FFFFFF"/>
          </a:solidFill>
          <a:ln w="12700">
            <a:solidFill>
              <a:srgbClr val="0F2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70064" y="1783080"/>
            <a:ext cx="1792224" cy="3840480"/>
          </a:xfrm>
          <a:prstGeom prst="rect">
            <a:avLst/>
          </a:prstGeom>
          <a:noFill/>
        </p:spPr>
        <p:txBody>
          <a:bodyPr wrap="square">
            <a:spAutoFit/>
          </a:bodyPr>
          <a:lstStyle/>
          <a:p>
            <a:pPr>
              <a:spcAft>
                <a:spcPts val="200"/>
              </a:spcAft>
            </a:pPr>
            <a:r>
              <a:rPr sz="1100" b="1">
                <a:solidFill>
                  <a:srgbClr val="0F2942"/>
                </a:solidFill>
                <a:latin typeface="Calibri"/>
              </a:rPr>
              <a:t>Layer 4
</a:t>
            </a:r>
          </a:p>
          <a:p>
            <a:pPr>
              <a:spcAft>
                <a:spcPts val="1000"/>
              </a:spcAft>
            </a:pPr>
            <a:r>
              <a:rPr sz="1200" b="1">
                <a:solidFill>
                  <a:srgbClr val="0F172A"/>
                </a:solidFill>
                <a:latin typeface="Calibri"/>
              </a:rPr>
              <a:t>Executive Communicator
</a:t>
            </a:r>
          </a:p>
          <a:p>
            <a:pPr>
              <a:spcAft>
                <a:spcPts val="1000"/>
              </a:spcAft>
            </a:pPr>
            <a:r>
              <a:rPr sz="950">
                <a:solidFill>
                  <a:srgbClr val="475569"/>
                </a:solidFill>
                <a:latin typeface="Calibri"/>
              </a:rPr>
              <a:t>Function:
Generative AI writes concise business narrative from verified facts.
</a:t>
            </a:r>
          </a:p>
          <a:p>
            <a:r>
              <a:rPr sz="950" b="1">
                <a:solidFill>
                  <a:srgbClr val="0F2942"/>
                </a:solidFill>
                <a:latin typeface="Calibri"/>
              </a:rPr>
              <a:t>Safety Benefit:
Fluent, multilingual synthesis in English, Vietnamese, Chinese, German.</a:t>
            </a:r>
          </a:p>
        </p:txBody>
      </p:sp>
      <p:sp>
        <p:nvSpPr>
          <p:cNvPr id="12" name="Rounded Rectangle 11"/>
          <p:cNvSpPr/>
          <p:nvPr/>
        </p:nvSpPr>
        <p:spPr>
          <a:xfrm>
            <a:off x="9436608" y="1645920"/>
            <a:ext cx="2011680" cy="4114800"/>
          </a:xfrm>
          <a:prstGeom prst="roundRect">
            <a:avLst/>
          </a:prstGeom>
          <a:solidFill>
            <a:srgbClr val="F0FDF4"/>
          </a:solidFill>
          <a:ln w="127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546336" y="1783080"/>
            <a:ext cx="1792224" cy="3840480"/>
          </a:xfrm>
          <a:prstGeom prst="rect">
            <a:avLst/>
          </a:prstGeom>
          <a:noFill/>
        </p:spPr>
        <p:txBody>
          <a:bodyPr wrap="square">
            <a:spAutoFit/>
          </a:bodyPr>
          <a:lstStyle/>
          <a:p>
            <a:pPr>
              <a:spcAft>
                <a:spcPts val="200"/>
              </a:spcAft>
            </a:pPr>
            <a:r>
              <a:rPr sz="1100" b="1">
                <a:solidFill>
                  <a:srgbClr val="166534"/>
                </a:solidFill>
                <a:latin typeface="Calibri"/>
              </a:rPr>
              <a:t>Layer 5
</a:t>
            </a:r>
          </a:p>
          <a:p>
            <a:pPr>
              <a:spcAft>
                <a:spcPts val="1000"/>
              </a:spcAft>
            </a:pPr>
            <a:r>
              <a:rPr sz="1200" b="1">
                <a:solidFill>
                  <a:srgbClr val="0F172A"/>
                </a:solidFill>
                <a:latin typeface="Calibri"/>
              </a:rPr>
              <a:t>Programmatic Number Guard
</a:t>
            </a:r>
          </a:p>
          <a:p>
            <a:pPr>
              <a:spcAft>
                <a:spcPts val="1000"/>
              </a:spcAft>
            </a:pPr>
            <a:r>
              <a:rPr sz="950">
                <a:solidFill>
                  <a:srgbClr val="475569"/>
                </a:solidFill>
                <a:latin typeface="Calibri"/>
              </a:rPr>
              <a:t>Function:
Automated gatekeeper validates every number in text against source facts.
</a:t>
            </a:r>
          </a:p>
          <a:p>
            <a:r>
              <a:rPr sz="950" b="1">
                <a:solidFill>
                  <a:srgbClr val="166534"/>
                </a:solidFill>
                <a:latin typeface="Calibri"/>
              </a:rPr>
              <a:t>Safety Benefit:
Zero numerical hallucinations reach the executive or manager.</a:t>
            </a:r>
          </a:p>
        </p:txBody>
      </p:sp>
      <p:sp>
        <p:nvSpPr>
          <p:cNvPr id="14" name="Rounded Rectangle 13"/>
          <p:cNvSpPr/>
          <p:nvPr/>
        </p:nvSpPr>
        <p:spPr>
          <a:xfrm>
            <a:off x="731520" y="5897880"/>
            <a:ext cx="10728655" cy="502920"/>
          </a:xfrm>
          <a:prstGeom prst="roundRect">
            <a:avLst/>
          </a:prstGeom>
          <a:solidFill>
            <a:srgbClr val="0F2942"/>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943600"/>
            <a:ext cx="10332720" cy="411480"/>
          </a:xfrm>
          <a:prstGeom prst="rect">
            <a:avLst/>
          </a:prstGeom>
          <a:noFill/>
        </p:spPr>
        <p:txBody>
          <a:bodyPr wrap="none">
            <a:spAutoFit/>
          </a:bodyPr>
          <a:lstStyle/>
          <a:p>
            <a:r>
              <a:rPr sz="1050" b="1">
                <a:solidFill>
                  <a:srgbClr val="38BDF8"/>
                </a:solidFill>
                <a:latin typeface="Calibri"/>
              </a:rPr>
              <a:t>THE OUTCOME: Conversational ease of asking in plain language + 100% precision of an audited accounting ledger.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1005840"/>
          </a:xfrm>
          <a:prstGeom prst="rect">
            <a:avLst/>
          </a:prstGeom>
          <a:noFill/>
        </p:spPr>
        <p:txBody>
          <a:bodyPr wrap="square" lIns="0" tIns="0" rIns="0" bIns="0">
            <a:spAutoFit/>
          </a:bodyPr>
          <a:lstStyle/>
          <a:p>
            <a:pPr>
              <a:spcAft>
                <a:spcPts val="200"/>
              </a:spcAft>
            </a:pPr>
            <a:r>
              <a:rPr sz="1000" b="1">
                <a:solidFill>
                  <a:srgbClr val="1D63B8"/>
                </a:solidFill>
                <a:latin typeface="Calibri"/>
              </a:rPr>
              <a:t>BUSINESS OUTCOMES &amp; IMPACT</a:t>
            </a:r>
          </a:p>
          <a:p>
            <a:pPr>
              <a:spcBef>
                <a:spcPts val="0"/>
              </a:spcBef>
            </a:pPr>
            <a:r>
              <a:rPr sz="2200" b="1">
                <a:solidFill>
                  <a:srgbClr val="0F2942"/>
                </a:solidFill>
                <a:latin typeface="Calibri"/>
              </a:rPr>
              <a:t>How Businesses Benefit: Tangible Financial &amp; Operational ROI</a:t>
            </a:r>
          </a:p>
        </p:txBody>
      </p:sp>
      <p:sp>
        <p:nvSpPr>
          <p:cNvPr id="4" name="Rounded Rectangle 3"/>
          <p:cNvSpPr/>
          <p:nvPr/>
        </p:nvSpPr>
        <p:spPr>
          <a:xfrm>
            <a:off x="731520" y="1645920"/>
            <a:ext cx="5212080" cy="2103120"/>
          </a:xfrm>
          <a:prstGeom prst="roundRect">
            <a:avLst/>
          </a:prstGeom>
          <a:solidFill>
            <a:srgbClr val="F0FDF4"/>
          </a:solidFill>
          <a:ln w="127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10512"/>
            <a:ext cx="4846320" cy="1773936"/>
          </a:xfrm>
          <a:prstGeom prst="rect">
            <a:avLst/>
          </a:prstGeom>
          <a:noFill/>
        </p:spPr>
        <p:txBody>
          <a:bodyPr wrap="square">
            <a:spAutoFit/>
          </a:bodyPr>
          <a:lstStyle/>
          <a:p>
            <a:pPr>
              <a:spcAft>
                <a:spcPts val="600"/>
              </a:spcAft>
            </a:pPr>
            <a:r>
              <a:rPr sz="1300" b="1">
                <a:solidFill>
                  <a:srgbClr val="166534"/>
                </a:solidFill>
                <a:latin typeface="Calibri"/>
              </a:rPr>
              <a:t>A. Protecting Working Capital &amp; Margin</a:t>
            </a:r>
          </a:p>
          <a:p>
            <a:r>
              <a:rPr sz="1050">
                <a:solidFill>
                  <a:srgbClr val="0F172A"/>
                </a:solidFill>
                <a:latin typeface="Calibri"/>
              </a:rPr>
              <a:t>Early detection of dormant inventory and slipping customer cohorts. Teams identify dead stock weeks earlier to bundle or discount before taking total write-offs, while detecting supplier cost inflation before it erodes quarterly margins.</a:t>
            </a:r>
          </a:p>
        </p:txBody>
      </p:sp>
      <p:sp>
        <p:nvSpPr>
          <p:cNvPr id="6" name="Rounded Rectangle 5"/>
          <p:cNvSpPr/>
          <p:nvPr/>
        </p:nvSpPr>
        <p:spPr>
          <a:xfrm>
            <a:off x="6248095" y="1645920"/>
            <a:ext cx="5212080" cy="2103120"/>
          </a:xfrm>
          <a:prstGeom prst="roundRect">
            <a:avLst/>
          </a:prstGeom>
          <a:solidFill>
            <a:srgbClr val="EFF6FF"/>
          </a:solidFill>
          <a:ln w="12700">
            <a:solidFill>
              <a:srgbClr val="1D6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30975" y="1810512"/>
            <a:ext cx="4846320" cy="1773936"/>
          </a:xfrm>
          <a:prstGeom prst="rect">
            <a:avLst/>
          </a:prstGeom>
          <a:noFill/>
        </p:spPr>
        <p:txBody>
          <a:bodyPr wrap="square">
            <a:spAutoFit/>
          </a:bodyPr>
          <a:lstStyle/>
          <a:p>
            <a:pPr>
              <a:spcAft>
                <a:spcPts val="600"/>
              </a:spcAft>
            </a:pPr>
            <a:r>
              <a:rPr sz="1300" b="1">
                <a:solidFill>
                  <a:srgbClr val="1D63B8"/>
                </a:solidFill>
                <a:latin typeface="Calibri"/>
              </a:rPr>
              <a:t>B. Compressing Stockout Reaction to Hours</a:t>
            </a:r>
          </a:p>
          <a:p>
            <a:r>
              <a:rPr sz="1050">
                <a:solidFill>
                  <a:srgbClr val="0F172A"/>
                </a:solidFill>
                <a:latin typeface="Calibri"/>
              </a:rPr>
              <a:t>Traditional weekly sales reports catch sudden spikes in velocity days later when shelves are empty. Conversational anomaly alerts flag high-velocity stockouts within hours, preserving immediate cash flow and high-margin sales.</a:t>
            </a:r>
          </a:p>
        </p:txBody>
      </p:sp>
      <p:sp>
        <p:nvSpPr>
          <p:cNvPr id="8" name="Rounded Rectangle 7"/>
          <p:cNvSpPr/>
          <p:nvPr/>
        </p:nvSpPr>
        <p:spPr>
          <a:xfrm>
            <a:off x="731520" y="4023360"/>
            <a:ext cx="5212080" cy="2103120"/>
          </a:xfrm>
          <a:prstGeom prst="roundRect">
            <a:avLst/>
          </a:prstGeom>
          <a:solidFill>
            <a:srgbClr val="FEF3C7"/>
          </a:solidFill>
          <a:ln w="127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187952"/>
            <a:ext cx="4846320" cy="1773936"/>
          </a:xfrm>
          <a:prstGeom prst="rect">
            <a:avLst/>
          </a:prstGeom>
          <a:noFill/>
        </p:spPr>
        <p:txBody>
          <a:bodyPr wrap="square">
            <a:spAutoFit/>
          </a:bodyPr>
          <a:lstStyle/>
          <a:p>
            <a:pPr>
              <a:spcAft>
                <a:spcPts val="600"/>
              </a:spcAft>
            </a:pPr>
            <a:r>
              <a:rPr sz="1300" b="1">
                <a:solidFill>
                  <a:srgbClr val="B45309"/>
                </a:solidFill>
                <a:latin typeface="Calibri"/>
              </a:rPr>
              <a:t>C. Eliminating Weekend Reporting Grunt Work</a:t>
            </a:r>
          </a:p>
          <a:p>
            <a:r>
              <a:rPr sz="1050">
                <a:solidFill>
                  <a:srgbClr val="0F172A"/>
                </a:solidFill>
                <a:latin typeface="Calibri"/>
              </a:rPr>
              <a:t>Reclaims 4 to 6 hours per week per manager spent manually exporting, cleaning, and formatting Excel sheets. The automated Monday 7:00 AM briefing delivers consultant-grade executive diagnosis without Sunday overtime.</a:t>
            </a:r>
          </a:p>
        </p:txBody>
      </p:sp>
      <p:sp>
        <p:nvSpPr>
          <p:cNvPr id="10" name="Rounded Rectangle 9"/>
          <p:cNvSpPr/>
          <p:nvPr/>
        </p:nvSpPr>
        <p:spPr>
          <a:xfrm>
            <a:off x="6248095" y="4023360"/>
            <a:ext cx="5212080" cy="2103120"/>
          </a:xfrm>
          <a:prstGeom prst="roundRect">
            <a:avLst/>
          </a:prstGeom>
          <a:solidFill>
            <a:srgbClr val="FFFFFF"/>
          </a:solidFill>
          <a:ln w="12700">
            <a:solidFill>
              <a:srgbClr val="0F2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30975" y="4187952"/>
            <a:ext cx="4846320" cy="1773936"/>
          </a:xfrm>
          <a:prstGeom prst="rect">
            <a:avLst/>
          </a:prstGeom>
          <a:noFill/>
        </p:spPr>
        <p:txBody>
          <a:bodyPr wrap="square">
            <a:spAutoFit/>
          </a:bodyPr>
          <a:lstStyle/>
          <a:p>
            <a:pPr>
              <a:spcAft>
                <a:spcPts val="600"/>
              </a:spcAft>
            </a:pPr>
            <a:r>
              <a:rPr sz="1300" b="1">
                <a:solidFill>
                  <a:srgbClr val="0F2942"/>
                </a:solidFill>
                <a:latin typeface="Calibri"/>
              </a:rPr>
              <a:t>D. Frontline Mobile Empowerment (15s Loop)</a:t>
            </a:r>
          </a:p>
          <a:p>
            <a:r>
              <a:rPr sz="1050">
                <a:solidFill>
                  <a:srgbClr val="0F172A"/>
                </a:solidFill>
                <a:latin typeface="Calibri"/>
              </a:rPr>
              <a:t>Shop managers ask natural operational questions on mobile in English, Vietnamese, Chinese, or German. Within 15 seconds, they receive visual proof and a 1-click button to download supplier re-order lists to Excel.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1005840"/>
          </a:xfrm>
          <a:prstGeom prst="rect">
            <a:avLst/>
          </a:prstGeom>
          <a:noFill/>
        </p:spPr>
        <p:txBody>
          <a:bodyPr wrap="square" lIns="0" tIns="0" rIns="0" bIns="0">
            <a:spAutoFit/>
          </a:bodyPr>
          <a:lstStyle/>
          <a:p>
            <a:pPr>
              <a:spcAft>
                <a:spcPts val="200"/>
              </a:spcAft>
            </a:pPr>
            <a:r>
              <a:rPr sz="1000" b="1">
                <a:solidFill>
                  <a:srgbClr val="38BDF8"/>
                </a:solidFill>
                <a:latin typeface="Calibri"/>
              </a:rPr>
              <a:t>ENTERPRISE TRUST &amp; GOVERNANCE</a:t>
            </a:r>
          </a:p>
          <a:p>
            <a:pPr>
              <a:spcBef>
                <a:spcPts val="0"/>
              </a:spcBef>
            </a:pPr>
            <a:r>
              <a:rPr sz="2200" b="1">
                <a:solidFill>
                  <a:srgbClr val="FFFFFF"/>
                </a:solidFill>
                <a:latin typeface="Calibri"/>
              </a:rPr>
              <a:t>Data Sovereignty &amp; Risk-Free Pilot Validation</a:t>
            </a:r>
          </a:p>
        </p:txBody>
      </p:sp>
      <p:sp>
        <p:nvSpPr>
          <p:cNvPr id="4" name="Rounded Rectangle 3"/>
          <p:cNvSpPr/>
          <p:nvPr/>
        </p:nvSpPr>
        <p:spPr>
          <a:xfrm>
            <a:off x="731520" y="1645920"/>
            <a:ext cx="3328416" cy="3657600"/>
          </a:xfrm>
          <a:prstGeom prst="roundRect">
            <a:avLst/>
          </a:prstGeom>
          <a:solidFill>
            <a:srgbClr val="0F213A"/>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2962656" cy="3291840"/>
          </a:xfrm>
          <a:prstGeom prst="rect">
            <a:avLst/>
          </a:prstGeom>
          <a:noFill/>
        </p:spPr>
        <p:txBody>
          <a:bodyPr wrap="square">
            <a:spAutoFit/>
          </a:bodyPr>
          <a:lstStyle/>
          <a:p>
            <a:pPr>
              <a:spcAft>
                <a:spcPts val="1000"/>
              </a:spcAft>
            </a:pPr>
            <a:r>
              <a:rPr sz="1300" b="1">
                <a:solidFill>
                  <a:srgbClr val="38BDF8"/>
                </a:solidFill>
                <a:latin typeface="Calibri"/>
              </a:rPr>
              <a:t>Data Sovereignty &amp; Privacy</a:t>
            </a:r>
          </a:p>
          <a:p>
            <a:pPr>
              <a:spcAft>
                <a:spcPts val="600"/>
              </a:spcAft>
            </a:pPr>
            <a:r>
              <a:rPr sz="1000">
                <a:solidFill>
                  <a:srgbClr val="E2E8F0"/>
                </a:solidFill>
                <a:latin typeface="Calibri"/>
              </a:rPr>
              <a:t>• Proprietary transaction data is strictly isolated within customer tenancy.</a:t>
            </a:r>
          </a:p>
          <a:p>
            <a:pPr>
              <a:spcAft>
                <a:spcPts val="600"/>
              </a:spcAft>
            </a:pPr>
            <a:r>
              <a:rPr sz="1000">
                <a:solidFill>
                  <a:srgbClr val="E2E8F0"/>
                </a:solidFill>
                <a:latin typeface="Calibri"/>
              </a:rPr>
              <a:t>• Enterprise figures are NEVER used to train external public LLM models.</a:t>
            </a:r>
          </a:p>
          <a:p>
            <a:pPr>
              <a:spcAft>
                <a:spcPts val="600"/>
              </a:spcAft>
            </a:pPr>
            <a:r>
              <a:rPr sz="1000">
                <a:solidFill>
                  <a:srgbClr val="E2E8F0"/>
                </a:solidFill>
                <a:latin typeface="Calibri"/>
              </a:rPr>
              <a:t>• Role-based access control matches frontline vs C-suite authorization.</a:t>
            </a:r>
          </a:p>
          <a:p>
            <a:pPr>
              <a:spcAft>
                <a:spcPts val="600"/>
              </a:spcAft>
            </a:pPr>
            <a:r>
              <a:rPr sz="1000">
                <a:solidFill>
                  <a:srgbClr val="E2E8F0"/>
                </a:solidFill>
                <a:latin typeface="Calibri"/>
              </a:rPr>
              <a:t>• Full data export and deletion guarantees upon service completion.</a:t>
            </a:r>
          </a:p>
        </p:txBody>
      </p:sp>
      <p:sp>
        <p:nvSpPr>
          <p:cNvPr id="6" name="Rounded Rectangle 5"/>
          <p:cNvSpPr/>
          <p:nvPr/>
        </p:nvSpPr>
        <p:spPr>
          <a:xfrm>
            <a:off x="4425696" y="1645920"/>
            <a:ext cx="3328416" cy="3657600"/>
          </a:xfrm>
          <a:prstGeom prst="roundRect">
            <a:avLst/>
          </a:prstGeom>
          <a:solidFill>
            <a:srgbClr val="0F213A"/>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08576" y="1828800"/>
            <a:ext cx="2962656" cy="3291840"/>
          </a:xfrm>
          <a:prstGeom prst="rect">
            <a:avLst/>
          </a:prstGeom>
          <a:noFill/>
        </p:spPr>
        <p:txBody>
          <a:bodyPr wrap="square">
            <a:spAutoFit/>
          </a:bodyPr>
          <a:lstStyle/>
          <a:p>
            <a:pPr>
              <a:spcAft>
                <a:spcPts val="1000"/>
              </a:spcAft>
            </a:pPr>
            <a:r>
              <a:rPr sz="1300" b="1">
                <a:solidFill>
                  <a:srgbClr val="38BDF8"/>
                </a:solidFill>
                <a:latin typeface="Calibri"/>
              </a:rPr>
              <a:t>Transparent Audit Lineage</a:t>
            </a:r>
          </a:p>
          <a:p>
            <a:pPr>
              <a:spcAft>
                <a:spcPts val="600"/>
              </a:spcAft>
            </a:pPr>
            <a:r>
              <a:rPr sz="1000">
                <a:solidFill>
                  <a:srgbClr val="E2E8F0"/>
                </a:solidFill>
                <a:latin typeface="Calibri"/>
              </a:rPr>
              <a:t>• Every number shown in briefings links directly back to source POS receipts.</a:t>
            </a:r>
          </a:p>
          <a:p>
            <a:pPr>
              <a:spcAft>
                <a:spcPts val="600"/>
              </a:spcAft>
            </a:pPr>
            <a:r>
              <a:rPr sz="1000">
                <a:solidFill>
                  <a:srgbClr val="E2E8F0"/>
                </a:solidFill>
                <a:latin typeface="Calibri"/>
              </a:rPr>
              <a:t>• Projections and forecasts are clearly labeled as probabilistic estimates.</a:t>
            </a:r>
          </a:p>
          <a:p>
            <a:pPr>
              <a:spcAft>
                <a:spcPts val="600"/>
              </a:spcAft>
            </a:pPr>
            <a:r>
              <a:rPr sz="1000">
                <a:solidFill>
                  <a:srgbClr val="E2E8F0"/>
                </a:solidFill>
                <a:latin typeface="Calibri"/>
              </a:rPr>
              <a:t>• No black-box calculation: complete mathematical traceability in code.</a:t>
            </a:r>
          </a:p>
          <a:p>
            <a:pPr>
              <a:spcAft>
                <a:spcPts val="600"/>
              </a:spcAft>
            </a:pPr>
            <a:r>
              <a:rPr sz="1000">
                <a:solidFill>
                  <a:srgbClr val="E2E8F0"/>
                </a:solidFill>
                <a:latin typeface="Calibri"/>
              </a:rPr>
              <a:t>• Eliminates friction between financial controllers and operational teams.</a:t>
            </a:r>
          </a:p>
        </p:txBody>
      </p:sp>
      <p:sp>
        <p:nvSpPr>
          <p:cNvPr id="8" name="Rounded Rectangle 7"/>
          <p:cNvSpPr/>
          <p:nvPr/>
        </p:nvSpPr>
        <p:spPr>
          <a:xfrm>
            <a:off x="8119872" y="1645920"/>
            <a:ext cx="3328416" cy="3657600"/>
          </a:xfrm>
          <a:prstGeom prst="roundRect">
            <a:avLst/>
          </a:prstGeom>
          <a:solidFill>
            <a:srgbClr val="0F213A"/>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02752" y="1828800"/>
            <a:ext cx="2962656" cy="3291840"/>
          </a:xfrm>
          <a:prstGeom prst="rect">
            <a:avLst/>
          </a:prstGeom>
          <a:noFill/>
        </p:spPr>
        <p:txBody>
          <a:bodyPr wrap="square">
            <a:spAutoFit/>
          </a:bodyPr>
          <a:lstStyle/>
          <a:p>
            <a:pPr>
              <a:spcAft>
                <a:spcPts val="1000"/>
              </a:spcAft>
            </a:pPr>
            <a:r>
              <a:rPr sz="1300" b="1">
                <a:solidFill>
                  <a:srgbClr val="38BDF8"/>
                </a:solidFill>
                <a:latin typeface="Calibri"/>
              </a:rPr>
              <a:t>30-Day Pilot Milestone Plan</a:t>
            </a:r>
          </a:p>
          <a:p>
            <a:pPr>
              <a:spcAft>
                <a:spcPts val="600"/>
              </a:spcAft>
            </a:pPr>
            <a:r>
              <a:rPr sz="1000">
                <a:solidFill>
                  <a:srgbClr val="E2E8F0"/>
                </a:solidFill>
                <a:latin typeface="Calibri"/>
              </a:rPr>
              <a:t>• Week 1: Connect POS receipts &amp; establish historical operational baseline.</a:t>
            </a:r>
          </a:p>
          <a:p>
            <a:pPr>
              <a:spcAft>
                <a:spcPts val="600"/>
              </a:spcAft>
            </a:pPr>
            <a:r>
              <a:rPr sz="1000">
                <a:solidFill>
                  <a:srgbClr val="E2E8F0"/>
                </a:solidFill>
                <a:latin typeface="Calibri"/>
              </a:rPr>
              <a:t>• Week 2: Launch automated Monday 7:00 AM executive PDF briefings.</a:t>
            </a:r>
          </a:p>
          <a:p>
            <a:pPr>
              <a:spcAft>
                <a:spcPts val="600"/>
              </a:spcAft>
            </a:pPr>
            <a:r>
              <a:rPr sz="1000">
                <a:solidFill>
                  <a:srgbClr val="E2E8F0"/>
                </a:solidFill>
                <a:latin typeface="Calibri"/>
              </a:rPr>
              <a:t>• Week 3: Deploy frontline mobile natural-language queries (15s re-order).</a:t>
            </a:r>
          </a:p>
          <a:p>
            <a:pPr>
              <a:spcAft>
                <a:spcPts val="600"/>
              </a:spcAft>
            </a:pPr>
            <a:r>
              <a:rPr sz="1000">
                <a:solidFill>
                  <a:srgbClr val="E2E8F0"/>
                </a:solidFill>
                <a:latin typeface="Calibri"/>
              </a:rPr>
              <a:t>• Week 4: Measure 3 concrete pilot ROI metrics: stockout lag, dead capital, and hours saved.</a:t>
            </a:r>
          </a:p>
        </p:txBody>
      </p:sp>
      <p:sp>
        <p:nvSpPr>
          <p:cNvPr id="10" name="Rounded Rectangle 9"/>
          <p:cNvSpPr/>
          <p:nvPr/>
        </p:nvSpPr>
        <p:spPr>
          <a:xfrm>
            <a:off x="731520" y="5486400"/>
            <a:ext cx="10728655" cy="822960"/>
          </a:xfrm>
          <a:prstGeom prst="roundRect">
            <a:avLst/>
          </a:prstGeom>
          <a:solidFill>
            <a:srgbClr val="1D63B8"/>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577840"/>
            <a:ext cx="10332720" cy="640080"/>
          </a:xfrm>
          <a:prstGeom prst="rect">
            <a:avLst/>
          </a:prstGeom>
          <a:noFill/>
        </p:spPr>
        <p:txBody>
          <a:bodyPr wrap="square">
            <a:spAutoFit/>
          </a:bodyPr>
          <a:lstStyle/>
          <a:p>
            <a:r>
              <a:rPr sz="1200" b="1">
                <a:solidFill>
                  <a:srgbClr val="FFFFFF"/>
                </a:solidFill>
                <a:latin typeface="Calibri"/>
              </a:rPr>
              <a:t>READY TO EXPLORE: Test the VDec BI interactive sandbox pre-loaded with retail &amp; trading data across desktop &amp; mobile.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